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48"/>
  </p:normalViewPr>
  <p:slideViewPr>
    <p:cSldViewPr snapToGrid="0" snapToObjects="1">
      <p:cViewPr varScale="1">
        <p:scale>
          <a:sx n="126" d="100"/>
          <a:sy n="126" d="100"/>
        </p:scale>
        <p:origin x="13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Logistic Regression </a:t>
            </a:r>
            <a:r>
              <a:rPr lang="en-US" dirty="0"/>
              <a:t>/ </a:t>
            </a:r>
            <a:r>
              <a:rPr dirty="0"/>
              <a:t>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Not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400">
                <a:solidFill>
                  <a:srgbClr val="000000"/>
                </a:solidFill>
              </a:defRPr>
            </a:pPr>
            <a:r>
              <a:t>Linear regression outputs any real number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Classification needs discrete labels (0/1, cat/dog)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Linear regression can give probabilities &lt;0 or &gt;1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We need outputs between 0 and 1 → probabilities!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400">
                <a:solidFill>
                  <a:srgbClr val="000000"/>
                </a:solidFill>
              </a:defRPr>
            </a:pPr>
            <a:r>
              <a:t>Model: z = w·x + b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Prediction: ŷ = σ(z) = 1 / (1 + e^(-z))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Output ŷ is between 0 and 1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Interpretation: probability of label =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400">
                <a:solidFill>
                  <a:srgbClr val="000000"/>
                </a:solidFill>
              </a:defRPr>
            </a:pPr>
            <a:r>
              <a:t>S-shaped curve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Small/negative input → near 0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Large/positive input → near 1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σ'(z) = σ(z)(1 - σ(z)) (for backprop)</a:t>
            </a:r>
          </a:p>
        </p:txBody>
      </p:sp>
      <p:pic>
        <p:nvPicPr>
          <p:cNvPr id="4" name="Picture 3" descr="sigmoid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893" y="38862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Functions for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2400">
                <a:solidFill>
                  <a:srgbClr val="000000"/>
                </a:solidFill>
              </a:defRPr>
            </a:pPr>
            <a:r>
              <a:rPr dirty="0"/>
              <a:t>MSE is possible but not ideal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dirty="0"/>
              <a:t>Binary Cross-Entropy (Log Loss):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L = - [ y log(</a:t>
            </a:r>
            <a:r>
              <a:rPr dirty="0" err="1"/>
              <a:t>ŷ</a:t>
            </a:r>
            <a:r>
              <a:rPr dirty="0"/>
              <a:t>) + (1-y) log(1-ŷ) ]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Better gradients, penalizes confident wrong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Multi-Class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2400">
                <a:solidFill>
                  <a:srgbClr val="000000"/>
                </a:solidFill>
              </a:defRPr>
            </a:pPr>
            <a:r>
              <a:rPr dirty="0" err="1"/>
              <a:t>Softmax</a:t>
            </a:r>
            <a:r>
              <a:rPr dirty="0"/>
              <a:t>: converts scores into probabilities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P(y=</a:t>
            </a:r>
            <a:r>
              <a:rPr dirty="0" err="1"/>
              <a:t>i</a:t>
            </a:r>
            <a:r>
              <a:rPr dirty="0"/>
              <a:t>) = e^(</a:t>
            </a:r>
            <a:r>
              <a:rPr dirty="0" err="1"/>
              <a:t>z_i</a:t>
            </a:r>
            <a:r>
              <a:rPr dirty="0"/>
              <a:t>) / </a:t>
            </a:r>
            <a:r>
              <a:rPr dirty="0" err="1"/>
              <a:t>Σ</a:t>
            </a:r>
            <a:r>
              <a:rPr dirty="0"/>
              <a:t> e^(</a:t>
            </a:r>
            <a:r>
              <a:rPr dirty="0" err="1"/>
              <a:t>z_j</a:t>
            </a:r>
            <a:r>
              <a:rPr dirty="0"/>
              <a:t>)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rPr dirty="0"/>
              <a:t>Cross-Entropy Loss: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L = - </a:t>
            </a:r>
            <a:r>
              <a:rPr dirty="0" err="1"/>
              <a:t>Σ</a:t>
            </a:r>
            <a:r>
              <a:rPr dirty="0"/>
              <a:t> </a:t>
            </a:r>
            <a:r>
              <a:rPr dirty="0" err="1"/>
              <a:t>y_i</a:t>
            </a:r>
            <a:r>
              <a:rPr dirty="0"/>
              <a:t> log(</a:t>
            </a:r>
            <a:r>
              <a:rPr dirty="0" err="1"/>
              <a:t>ŷ_i</a:t>
            </a:r>
            <a:r>
              <a:rPr dirty="0"/>
              <a:t>)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 err="1"/>
              <a:t>y_i</a:t>
            </a:r>
            <a:r>
              <a:rPr dirty="0"/>
              <a:t> = 1 for correct class, 0 otherwise</a:t>
            </a:r>
          </a:p>
        </p:txBody>
      </p:sp>
      <p:pic>
        <p:nvPicPr>
          <p:cNvPr id="4" name="Picture 3" descr="softmax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172" y="4436913"/>
            <a:ext cx="2923954" cy="21929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KL Divergenc</a:t>
            </a:r>
            <a:r>
              <a:rPr lang="en-US" dirty="0"/>
              <a:t>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2400">
                <a:solidFill>
                  <a:srgbClr val="000000"/>
                </a:solidFill>
              </a:defRPr>
            </a:pPr>
            <a:r>
              <a:rPr dirty="0"/>
              <a:t>Measures distance between two probability distributions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D_KL(P || Q) = </a:t>
            </a:r>
            <a:r>
              <a:rPr dirty="0" err="1"/>
              <a:t>Σ</a:t>
            </a:r>
            <a:r>
              <a:rPr dirty="0"/>
              <a:t> P(</a:t>
            </a:r>
            <a:r>
              <a:rPr dirty="0" err="1"/>
              <a:t>i</a:t>
            </a:r>
            <a:r>
              <a:rPr dirty="0"/>
              <a:t>) log(P(</a:t>
            </a:r>
            <a:r>
              <a:rPr dirty="0" err="1"/>
              <a:t>i</a:t>
            </a:r>
            <a:r>
              <a:rPr dirty="0"/>
              <a:t>)/Q(</a:t>
            </a:r>
            <a:r>
              <a:rPr dirty="0" err="1"/>
              <a:t>i</a:t>
            </a:r>
            <a:r>
              <a:rPr dirty="0"/>
              <a:t>))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Cross-Entropy ≈ minimizing KL divergence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lang="en-US" dirty="0"/>
              <a:t>In ML: predicted distribution vs. true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951BB-EE5D-5DD0-2DF9-530E6E7E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CFAF-6F87-F795-6137-A6AEDB32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(</a:t>
            </a:r>
            <a:r>
              <a:rPr dirty="0"/>
              <a:t>KL Divergence </a:t>
            </a:r>
            <a:r>
              <a:rPr lang="en-US" dirty="0">
                <a:sym typeface="Wingdings" pitchFamily="2" charset="2"/>
              </a:rPr>
              <a:t> Cross Entropy Loss)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104CCA-AAE3-56E8-57B7-65829FDD5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1417638"/>
            <a:ext cx="6527800" cy="524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8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B0F69-7EAF-8C6F-E04A-8AB9DD19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59893-6EEA-A52C-9DCE-54A03B7B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(</a:t>
            </a:r>
            <a:r>
              <a:rPr dirty="0"/>
              <a:t>KL Divergence </a:t>
            </a:r>
            <a:r>
              <a:rPr lang="en-US" dirty="0">
                <a:sym typeface="Wingdings" pitchFamily="2" charset="2"/>
              </a:rPr>
              <a:t> Cross Entropy Loss)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0B7A16-CDD1-A6B0-744D-313E1FEE0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1417638"/>
            <a:ext cx="6903720" cy="507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21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400">
                <a:solidFill>
                  <a:srgbClr val="000000"/>
                </a:solidFill>
              </a:defRPr>
            </a:pPr>
            <a:r>
              <a:t>Same process as linear regression: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Forward pass → compute loss → backpropagation → update weights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t>Difference: use sigmoid/softmax + cross-entropy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Pass/Fail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2400">
                <a:solidFill>
                  <a:srgbClr val="000000"/>
                </a:solidFill>
              </a:defRPr>
            </a:pPr>
            <a:r>
              <a:rPr dirty="0"/>
              <a:t>Input: hours studied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Model: </a:t>
            </a:r>
            <a:r>
              <a:rPr dirty="0" err="1"/>
              <a:t>ŷ</a:t>
            </a:r>
            <a:r>
              <a:rPr dirty="0"/>
              <a:t> = </a:t>
            </a:r>
            <a:r>
              <a:rPr dirty="0" err="1"/>
              <a:t>σ</a:t>
            </a:r>
            <a:r>
              <a:rPr dirty="0"/>
              <a:t>(</a:t>
            </a:r>
            <a:r>
              <a:rPr dirty="0" err="1"/>
              <a:t>w·x</a:t>
            </a:r>
            <a:r>
              <a:rPr dirty="0"/>
              <a:t> + b)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Output: probability of passing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Loss: binary cross-entropy</a:t>
            </a:r>
          </a:p>
          <a:p>
            <a:pPr lvl="1" algn="l">
              <a:defRPr sz="2400">
                <a:solidFill>
                  <a:srgbClr val="000000"/>
                </a:solidFill>
              </a:defRPr>
            </a:pPr>
            <a:r>
              <a:rPr dirty="0"/>
              <a:t>Optimization: gradient descent</a:t>
            </a:r>
          </a:p>
        </p:txBody>
      </p:sp>
      <p:pic>
        <p:nvPicPr>
          <p:cNvPr id="4" name="Picture 3" descr="decision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767" y="3611562"/>
            <a:ext cx="2697163" cy="26971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Worked Example: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Task: Predict pass/fail based on hours studied</a:t>
            </a:r>
          </a:p>
          <a:p>
            <a:pPr>
              <a:defRPr sz="2000"/>
            </a:pPr>
            <a:r>
              <a:rPr dirty="0"/>
              <a:t>Input: x = 5 hours</a:t>
            </a:r>
          </a:p>
          <a:p>
            <a:pPr>
              <a:defRPr sz="2000"/>
            </a:pPr>
            <a:r>
              <a:rPr dirty="0"/>
              <a:t>Model: z = </a:t>
            </a:r>
            <a:r>
              <a:rPr dirty="0" err="1"/>
              <a:t>w·x</a:t>
            </a:r>
            <a:r>
              <a:rPr dirty="0"/>
              <a:t> + b, with w = 0.8, b = -2</a:t>
            </a:r>
          </a:p>
          <a:p>
            <a:pPr>
              <a:defRPr sz="2000"/>
            </a:pPr>
            <a:r>
              <a:rPr dirty="0"/>
              <a:t>Step 1: Compute z = 0.8*5 - 2 = 2</a:t>
            </a:r>
          </a:p>
          <a:p>
            <a:pPr>
              <a:defRPr sz="2000"/>
            </a:pPr>
            <a:r>
              <a:rPr dirty="0"/>
              <a:t>Step 2: Apply sigmoid: </a:t>
            </a:r>
            <a:r>
              <a:rPr dirty="0" err="1"/>
              <a:t>σ</a:t>
            </a:r>
            <a:r>
              <a:rPr dirty="0"/>
              <a:t>(z) = 1 / (1 + e^(-2)) ≈ 0.88</a:t>
            </a:r>
          </a:p>
          <a:p>
            <a:pPr lvl="1">
              <a:defRPr sz="2000"/>
            </a:pPr>
            <a:r>
              <a:rPr dirty="0"/>
              <a:t>Interpretation: 88% probability of passing</a:t>
            </a:r>
          </a:p>
          <a:p>
            <a:pPr>
              <a:defRPr sz="2000"/>
            </a:pPr>
            <a:r>
              <a:rPr dirty="0"/>
              <a:t>Step 3: If true label y = 1 (passed), loss = -log(0.88) ≈ 0.13</a:t>
            </a:r>
          </a:p>
          <a:p>
            <a:pPr lvl="1">
              <a:defRPr sz="2000"/>
            </a:pPr>
            <a:r>
              <a:rPr dirty="0"/>
              <a:t>Small loss, model prediction is good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456</Words>
  <Application>Microsoft Macintosh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Logistic Regression / Classification</vt:lpstr>
      <vt:lpstr>Why Not Linear Regression?</vt:lpstr>
      <vt:lpstr>Logistic Regression</vt:lpstr>
      <vt:lpstr>Sigmoid Function</vt:lpstr>
      <vt:lpstr>Loss Functions for Classification</vt:lpstr>
      <vt:lpstr>Multi-Class Classification</vt:lpstr>
      <vt:lpstr>KL Divergence</vt:lpstr>
      <vt:lpstr>(KL Divergence  Cross Entropy Loss)</vt:lpstr>
      <vt:lpstr>(KL Divergence  Cross Entropy Loss)</vt:lpstr>
      <vt:lpstr>Training Logistic Regression</vt:lpstr>
      <vt:lpstr>Example: Pass/Fail Prediction</vt:lpstr>
      <vt:lpstr>Worked Example: Logistic Regression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Tabet, Jimmy Salim</cp:lastModifiedBy>
  <cp:revision>3</cp:revision>
  <dcterms:created xsi:type="dcterms:W3CDTF">2013-01-27T09:14:16Z</dcterms:created>
  <dcterms:modified xsi:type="dcterms:W3CDTF">2025-10-25T16:23:39Z</dcterms:modified>
  <cp:category/>
</cp:coreProperties>
</file>